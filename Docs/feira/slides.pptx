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02bb8388-f36f-83b3-08ae-097019f62b2c}">
          <p14:sldIdLst>
            <p14:sldId id="256"/>
          </p14:sldIdLst>
        </p14:section>
        <p14:section name="Problema" id="{b4f4f385-df14-675d-b691-3168bbc6d178}">
          <p14:sldIdLst>
            <p14:sldId id="257"/>
          </p14:sldIdLst>
        </p14:section>
        <p14:section name="Como funciona" id="{0f0fbfba-19aa-f58e-2926-82ee3f017905}">
          <p14:sldIdLst>
            <p14:sldId id="258"/>
          </p14:sldIdLst>
        </p14:section>
        <p14:section name="Demonstração" id="{0cdbfb42-f167-8a13-5302-639613832c8d}">
          <p14:sldIdLst>
            <p14:sldId id="259"/>
            <p14:sldId id="260"/>
          </p14:sldIdLst>
        </p14:section>
        <p14:section name="Base da IA" id="{267a4dde-42ca-e23e-7f58-0e631a8f603d}">
          <p14:sldIdLst>
            <p14:sldId id="261"/>
          </p14:sldIdLst>
        </p14:section>
        <p14:section name="Fecho" id="{623de6c0-8ab9-26c1-7639-92cece0f668d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3F7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3F7E"/>
                </a:solidFill>
                <a:latin typeface="+mn-lt"/>
              </a:rPr>
              <a:t>Quanto cada pista multiplica a chance (LR+)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LR+</c:v>
                </c:pt>
              </c:strCache>
            </c:strRef>
          </c:tx>
          <c:spPr>
            <a:solidFill>
              <a:srgbClr val="00A0DC"/>
            </a:solidFill>
            <a:effectLst/>
          </c:spPr>
          <c:invertIfNegative val="0"/>
          <c:dLbls>
            <c:numFmt formatCode="&quot;×&quot;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Mudança do hábito intestinal</c:v>
                  </c:pt>
                  <c:pt idx="1">
                    <c:v>Perda de 9,5% do peso (balança)</c:v>
                  </c:pt>
                  <c:pt idx="2">
                    <c:v>Anemia, Hb 10,9 g/dL</c:v>
                  </c:pt>
                  <c:pt idx="3">
                    <c:v>Sangue oculto nas fezes (FIT)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5.1</c:v>
                </c:pt>
                <c:pt idx="2">
                  <c:v>5.2</c:v>
                </c:pt>
                <c:pt idx="3">
                  <c:v>13.2</c:v>
                </c:pt>
              </c:numCache>
            </c:numRef>
          </c:val>
        </c:ser>
        <c:dLbls>
          <c:numFmt formatCode="&quot;×&quot;0.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de 30 s: Você sabe qual exame de câncer deveria fazer, e a partir de que idade? Quase ninguém sabe. O HealthInPulse estima o risco de cinco cânceres frequentes no Brasil, mostra o porquê de cada número, com a fonte, e indica o exame de rastreamento. Não é diagnóstico. O teste leva dois minutos e nada é gravado.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Câncer achado cedo tem outro desfecho e existem exames de rastreamento. Mas cada exame tem idade e público, e as regras mudaram: em 2025 a mamografia foi ampliada para 50 a 74 anos e o DNA-HPV virou o exame principal do colo do útero; em 2026 o SUS passou a rastrear câncer de intestino com o FIT. Pulmão é recomendação do consenso de 2024, ainda fora do SUS. Próstata: o Ministério da Saúde não recomenda rastrear todos os homens; é decisão compartilhada. Fonte: Docs/base-clinica-oncologia.md.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Raciocínio bayesiano: a mesma lógica de um médico, com a conta à mostra. Ponto de partida: chance em 2 anos para a idade e o sexo, a mesma definição dos estudos CAPER que embasam o NICE. Cada pista multiplica a chance; a força vem de estudos publicados. Limites: 3% investigar (NICE NG12); 1% ou 2 vezes a média, atenção. A próxima pergunta é a que mais muda o resultado, por isso o teste é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login da médica, paciente Roberto, painel de riscos. Para a idade dele, a chance de câncer de intestino em 2 anos é cerca de 2 em 1.000 (0,157%). A balança registrou 84 para 76 kg em 90 dias, o hemograma tem anemia (Hb 10,9), o FIT deu positivo e ele contou que o intestino mudou. O risco passa de 20%: INVESTIGAR. Com 35 maços-ano e 8 anos sem fumar, também a TC de pulmão de baixa dose. Se perguntarem pelo número: a conta pura passa de 40% (45 a 68%, conforme as respostas), mas a tela mostra "≥ 20%" porque FIT e anemia andam juntos e o Naive Bayes superestima pistas correlacionadas. Conferir os números na tela antes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Pacientes fictícios do seed. Marina: 2,2 vezes a média pela mãe (Collaborative Group 2001); rastreamento de alto risco a partir de 10 anos antes do caso mais jovem (CBR/SBM/Febrasgo 2023). João: FIT a cada 2 anos dos 50 aos 75 (INCA 2026); PSA em decisão compartilhada (Nota Técnica 9/2023). Cada persona é também um teste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dados (mudam com a ciência) de lógica (como calcular, coberta por testes). Demo: Base da IA, FIT positivo, mudar o valor, voltar ao Roberto e ver o risco mudar, depois Restaurar padrão. No site público a edição fica desligada (KB_EDIT=false).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Fecho: não é diagnóstico e não foi calibrado com dados reais; declaramos os limites na tela. O próximo passo seria validar com dados reais. Se quiserem testar, o QR está aqui e no banner: dois minutos, nada é gravado.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ESCURO">
    <p:bg>
      <p:bgPr>
        <a:solidFill>
          <a:srgbClr val="003F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HealthInPulse v8 · FIAP × Care Plus · projeto acadêmico, não é diagnóstico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_ESCURO">
    <p:bg>
      <p:bgPr>
        <a:solidFill>
          <a:srgbClr val="003F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HealthInPulse v8 · FIAP × Care Plus · projeto acadêmico, não é diagnóstico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4E3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FEIRA · SÁBADO, 24/10/2026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HealthInPulse v8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546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Uma IA que estima o risco de 5 cânceres, mostra o porquê de cada número e indica o exame certo para a sua idade</a:t>
            </a:r>
            <a:endParaRPr lang="en-US" sz="2400" dirty="0"/>
          </a:p>
        </p:txBody>
      </p:sp>
      <p:sp>
        <p:nvSpPr>
          <p:cNvPr id="5" name="fato-1"/>
          <p:cNvSpPr/>
          <p:nvPr/>
        </p:nvSpPr>
        <p:spPr>
          <a:xfrm>
            <a:off x="731520" y="47091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800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4800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condições: 5 cânceres e 8 doenças crônicas</a:t>
            </a:r>
            <a:endParaRPr lang="en-US" sz="1400" dirty="0"/>
          </a:p>
        </p:txBody>
      </p:sp>
      <p:sp>
        <p:nvSpPr>
          <p:cNvPr id="8" name="fato-2"/>
          <p:cNvSpPr/>
          <p:nvPr/>
        </p:nvSpPr>
        <p:spPr>
          <a:xfrm>
            <a:off x="4389120" y="47091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4800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4800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limite para "investigar" (diretriz NICE NG12)</a:t>
            </a:r>
            <a:endParaRPr lang="en-US" sz="1400" dirty="0"/>
          </a:p>
        </p:txBody>
      </p:sp>
      <p:sp>
        <p:nvSpPr>
          <p:cNvPr id="11" name="fato-3"/>
          <p:cNvSpPr/>
          <p:nvPr/>
        </p:nvSpPr>
        <p:spPr>
          <a:xfrm>
            <a:off x="8046720" y="47091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4800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9464040" y="4800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dados gravados no teste do visitante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Cada exame tem idade e público certos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 três dessas regras mudaram em 2025 e 2026. A maioria das pessoas não sabe qual é a sua.</a:t>
            </a:r>
            <a:endParaRPr lang="en-US" sz="1800" dirty="0"/>
          </a:p>
        </p:txBody>
      </p:sp>
      <p:sp>
        <p:nvSpPr>
          <p:cNvPr id="4" name="card-1"/>
          <p:cNvSpPr/>
          <p:nvPr/>
        </p:nvSpPr>
        <p:spPr>
          <a:xfrm>
            <a:off x="457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Mamografia a cada 2 anos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Ministério da Saúde, 2025</a:t>
            </a:r>
            <a:endParaRPr lang="en-US" sz="1100" dirty="0"/>
          </a:p>
        </p:txBody>
      </p:sp>
      <p:sp>
        <p:nvSpPr>
          <p:cNvPr id="10" name="selo-1"/>
          <p:cNvSpPr/>
          <p:nvPr/>
        </p:nvSpPr>
        <p:spPr>
          <a:xfrm>
            <a:off x="640080" y="553212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5532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</a:rPr>
              <a:t>NOVO EM 2025</a:t>
            </a:r>
            <a:endParaRPr lang="en-US" sz="1100" dirty="0"/>
          </a:p>
        </p:txBody>
      </p:sp>
      <p:sp>
        <p:nvSpPr>
          <p:cNvPr id="12" name="card-2"/>
          <p:cNvSpPr/>
          <p:nvPr/>
        </p:nvSpPr>
        <p:spPr>
          <a:xfrm>
            <a:off x="2743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 do útero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25–64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Teste de DNA-HPV a cada 5 anos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Portaria SAES/SECTICS nº 13, 2025</a:t>
            </a:r>
            <a:endParaRPr lang="en-US" sz="1100" dirty="0"/>
          </a:p>
        </p:txBody>
      </p:sp>
      <p:sp>
        <p:nvSpPr>
          <p:cNvPr id="18" name="selo-2"/>
          <p:cNvSpPr/>
          <p:nvPr/>
        </p:nvSpPr>
        <p:spPr>
          <a:xfrm>
            <a:off x="2926080" y="553212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6080" y="5532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</a:rPr>
              <a:t>NOVO EM 2025</a:t>
            </a:r>
            <a:endParaRPr lang="en-US" sz="1100" dirty="0"/>
          </a:p>
        </p:txBody>
      </p:sp>
      <p:sp>
        <p:nvSpPr>
          <p:cNvPr id="20" name="card-3"/>
          <p:cNvSpPr/>
          <p:nvPr/>
        </p:nvSpPr>
        <p:spPr>
          <a:xfrm>
            <a:off x="5029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Intestino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50–75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Sangue oculto nas fezes (FIT) a cada 2 anos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INCA, 2026 (SUS)</a:t>
            </a:r>
            <a:endParaRPr lang="en-US" sz="1100" dirty="0"/>
          </a:p>
        </p:txBody>
      </p:sp>
      <p:sp>
        <p:nvSpPr>
          <p:cNvPr id="26" name="selo-3"/>
          <p:cNvSpPr/>
          <p:nvPr/>
        </p:nvSpPr>
        <p:spPr>
          <a:xfrm>
            <a:off x="5212080" y="553212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12080" y="5532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</a:rPr>
              <a:t>NOVO EM 2026</a:t>
            </a:r>
            <a:endParaRPr lang="en-US" sz="1100" dirty="0"/>
          </a:p>
        </p:txBody>
      </p:sp>
      <p:sp>
        <p:nvSpPr>
          <p:cNvPr id="28" name="card-4"/>
          <p:cNvSpPr/>
          <p:nvPr/>
        </p:nvSpPr>
        <p:spPr>
          <a:xfrm>
            <a:off x="7315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Pulmão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50–80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TC de baixa dose anual, ≥ 20 maços-ano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Consenso SBCT/SBPT/CBR, 2024</a:t>
            </a:r>
            <a:endParaRPr lang="en-US" sz="1100" dirty="0"/>
          </a:p>
        </p:txBody>
      </p:sp>
      <p:sp>
        <p:nvSpPr>
          <p:cNvPr id="34" name="card-5"/>
          <p:cNvSpPr/>
          <p:nvPr/>
        </p:nvSpPr>
        <p:spPr>
          <a:xfrm>
            <a:off x="9601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84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Próstata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5603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978408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compartilhada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PSA: conversar com o médico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784080" y="4663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MS/INCA, Nota Técnica 9/2023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Como a IA pensa</a:t>
            </a:r>
            <a:endParaRPr lang="en-US" sz="3400" dirty="0"/>
          </a:p>
        </p:txBody>
      </p:sp>
      <p:sp>
        <p:nvSpPr>
          <p:cNvPr id="3" name="passo-1"/>
          <p:cNvSpPr/>
          <p:nvPr/>
        </p:nvSpPr>
        <p:spPr>
          <a:xfrm>
            <a:off x="45720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pela média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Chance de alguém da mesma idade e sexo receber o diagnóstico em 2 anos. INCA (Estimativa 2026) e GLOBOCAN 2022 Brasil.</a:t>
            </a:r>
            <a:endParaRPr lang="en-US" sz="1400" dirty="0"/>
          </a:p>
        </p:txBody>
      </p:sp>
      <p:sp>
        <p:nvSpPr>
          <p:cNvPr id="8" name="passo-2"/>
          <p:cNvSpPr/>
          <p:nvPr/>
        </p:nvSpPr>
        <p:spPr>
          <a:xfrm>
            <a:off x="432054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num-2"/>
          <p:cNvSpPr/>
          <p:nvPr/>
        </p:nvSpPr>
        <p:spPr>
          <a:xfrm>
            <a:off x="45491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491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914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pista multiplica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4914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Sintomas, exames e a balança mudam a chance. A força (LR) vem de estudos: FIT positivo ×13, nódulo na mama ×55.</a:t>
            </a:r>
            <a:endParaRPr lang="en-US" sz="1400" dirty="0"/>
          </a:p>
        </p:txBody>
      </p:sp>
      <p:sp>
        <p:nvSpPr>
          <p:cNvPr id="13" name="passo-3"/>
          <p:cNvSpPr/>
          <p:nvPr/>
        </p:nvSpPr>
        <p:spPr>
          <a:xfrm>
            <a:off x="818388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-3"/>
          <p:cNvSpPr/>
          <p:nvPr/>
        </p:nvSpPr>
        <p:spPr>
          <a:xfrm>
            <a:off x="84124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limites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resultado vira uma categoria. O limite de 3% para investigar é o da diretriz NICE NG12.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Categorias (oncologia nunca em vermelho)</a:t>
            </a:r>
            <a:endParaRPr lang="en-US" sz="1400" dirty="0"/>
          </a:p>
        </p:txBody>
      </p:sp>
      <p:sp>
        <p:nvSpPr>
          <p:cNvPr id="19" name="nivel-1"/>
          <p:cNvSpPr/>
          <p:nvPr/>
        </p:nvSpPr>
        <p:spPr>
          <a:xfrm>
            <a:off x="457200" y="4343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ROTINA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 resto: &lt; 1% e &lt; 2× a média</a:t>
            </a:r>
            <a:endParaRPr lang="en-US" sz="1800" dirty="0"/>
          </a:p>
        </p:txBody>
      </p:sp>
      <p:sp>
        <p:nvSpPr>
          <p:cNvPr id="21" name="nivel-2"/>
          <p:cNvSpPr/>
          <p:nvPr/>
        </p:nvSpPr>
        <p:spPr>
          <a:xfrm>
            <a:off x="4320540" y="4343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4914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ATENÇÃO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≥ 1% ou 2× a média da idade</a:t>
            </a:r>
            <a:endParaRPr lang="en-US" sz="1800" dirty="0"/>
          </a:p>
        </p:txBody>
      </p:sp>
      <p:sp>
        <p:nvSpPr>
          <p:cNvPr id="23" name="nivel-3"/>
          <p:cNvSpPr/>
          <p:nvPr/>
        </p:nvSpPr>
        <p:spPr>
          <a:xfrm>
            <a:off x="8183880" y="4343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FEDD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INVESTIGAR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≥ 3%: procure avaliação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A conta: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logit(chance final) = logit(chance de partida) + Σ ln(LR de cada pista).  </a:t>
            </a:r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Próxima pergunta: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 que mais muda o risco (Σ |ln LR| ÷ custo).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Sr. Roberto, 63: de 2 em 1.000 para INVESTIGAR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Ex-fumante (35 maços-ano, parou há 8 anos). Contou que o intestino mudou e anda cansado.</a:t>
            </a:r>
            <a:endParaRPr lang="en-US" sz="1600" dirty="0"/>
          </a:p>
        </p:txBody>
      </p:sp>
      <p:sp>
        <p:nvSpPr>
          <p:cNvPr id="4" name="card-numeros"/>
          <p:cNvSpPr/>
          <p:nvPr/>
        </p:nvSpPr>
        <p:spPr>
          <a:xfrm>
            <a:off x="457200" y="1737360"/>
            <a:ext cx="420624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0,16%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média de homens de 60–64 anos em 2 anos (~2 em 1.000)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20%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 as pistas: mais de 1 em 5</a:t>
            </a:r>
            <a:endParaRPr lang="en-US" sz="1400" dirty="0"/>
          </a:p>
        </p:txBody>
      </p:sp>
      <p:sp>
        <p:nvSpPr>
          <p:cNvPr id="9" name="selo-roberto"/>
          <p:cNvSpPr/>
          <p:nvPr/>
        </p:nvSpPr>
        <p:spPr>
          <a:xfrm>
            <a:off x="731520" y="45262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4526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</a:rPr>
              <a:t>COLORRETAL · INVESTIGAR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937760" y="1737360"/>
          <a:ext cx="6766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937760" y="4846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Fontes: Lee 2014 (FIT, 19 estudos); Hamilton 2005 (CAPER colorretal, 349 casos). Prior: GLOBOCAN 2022 calibrado pelo INCA 2026.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Próximo passo: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avaliação médica com colonoscopia. Como ex-fumante, também a TC de pulmão de baixa dose (consenso 2024).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Três pacientes, três histórias</a:t>
            </a:r>
            <a:endParaRPr lang="en-US" sz="3400" dirty="0"/>
          </a:p>
        </p:txBody>
      </p:sp>
      <p:sp>
        <p:nvSpPr>
          <p:cNvPr id="3" name="paciente-1"/>
          <p:cNvSpPr/>
          <p:nvPr/>
        </p:nvSpPr>
        <p:spPr>
          <a:xfrm>
            <a:off x="457200" y="1280160"/>
            <a:ext cx="3520440" cy="4892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Alves, 63</a:t>
            </a:r>
            <a:endParaRPr lang="en-US" sz="2000" dirty="0"/>
          </a:p>
        </p:txBody>
      </p:sp>
      <p:sp>
        <p:nvSpPr>
          <p:cNvPr id="5" name="nivel-paciente-1"/>
          <p:cNvSpPr/>
          <p:nvPr/>
        </p:nvSpPr>
        <p:spPr>
          <a:xfrm>
            <a:off x="685800" y="20116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</a:rPr>
              <a:t>COLORRETAL · INVESTIGAR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OS DADOS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Balança: −9,5% do peso em 90 dias. Anemia (Hb 10,9). FIT positivo.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6576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A IA RECOMENDA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Colonoscopia e consulta. TC de pulmão de baixa dose.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 QUE DEMONSTRA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Pulseira, exames e sintomas somando evidência.</a:t>
            </a:r>
            <a:endParaRPr lang="en-US" sz="1100" dirty="0"/>
          </a:p>
        </p:txBody>
      </p:sp>
      <p:sp>
        <p:nvSpPr>
          <p:cNvPr id="10" name="paciente-2"/>
          <p:cNvSpPr/>
          <p:nvPr/>
        </p:nvSpPr>
        <p:spPr>
          <a:xfrm>
            <a:off x="4320540" y="1280160"/>
            <a:ext cx="3520440" cy="4892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4914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Azevedo, 34</a:t>
            </a:r>
            <a:endParaRPr lang="en-US" sz="2000" dirty="0"/>
          </a:p>
        </p:txBody>
      </p:sp>
      <p:sp>
        <p:nvSpPr>
          <p:cNvPr id="12" name="nivel-paciente-2"/>
          <p:cNvSpPr/>
          <p:nvPr/>
        </p:nvSpPr>
        <p:spPr>
          <a:xfrm>
            <a:off x="4549140" y="20116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4914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45309"/>
                </a:solidFill>
              </a:rPr>
              <a:t>MAMA · ATENÇÃO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4914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OS DADOS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Mãe teve câncer de mama aos 41. Preventivo atrasado.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49140" y="36576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A IA RECOMENDA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2,2× a média (~1 em 1.000): mamografia a partir dos 31, se o risco alto for confirmado. Teste de DNA-HPV.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4914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 QUE DEMONSTRA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O plano de exames muda pela família, mesmo com risco baixo.</a:t>
            </a:r>
            <a:endParaRPr lang="en-US" sz="1100" dirty="0"/>
          </a:p>
        </p:txBody>
      </p:sp>
      <p:sp>
        <p:nvSpPr>
          <p:cNvPr id="17" name="paciente-3"/>
          <p:cNvSpPr/>
          <p:nvPr/>
        </p:nvSpPr>
        <p:spPr>
          <a:xfrm>
            <a:off x="8183880" y="1280160"/>
            <a:ext cx="3520440" cy="4892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Carlos, 58</a:t>
            </a:r>
            <a:endParaRPr lang="en-US" sz="2000" dirty="0"/>
          </a:p>
        </p:txBody>
      </p:sp>
      <p:sp>
        <p:nvSpPr>
          <p:cNvPr id="19" name="nivel-paciente-3"/>
          <p:cNvSpPr/>
          <p:nvPr/>
        </p:nvSpPr>
        <p:spPr>
          <a:xfrm>
            <a:off x="8412480" y="20116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5803D"/>
                </a:solidFill>
              </a:rPr>
              <a:t>CÂNCER · ROTINA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OS DADOS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Diabetes e pressão alta, que o app já acompanha. Nenhum sinal de câncer.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36576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A IA RECOMENDA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FIT pela idade (50–75). PSA: conversar com o médico.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 QUE DEMONSTRA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A IA também diz quando não há motivo para alarme de câncer.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 da IA: os números foram para o banco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6751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188720"/>
                <a:gridCol w="731520"/>
                <a:gridCol w="1691640"/>
                <a:gridCol w="640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Pista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Câncer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LR+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Fonte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Sangue oculto nas fezes (FIT)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Colorretal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13,2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Lee 2014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Sangramento retal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Colorretal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10,1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Hamilton 2005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Nódulo na mama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Mama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55,1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Walker 2014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Hemoptise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Pulmão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13,3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Hamilton 2009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Tosse &gt; 3 semanas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Pulmão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1,6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Haastrup 2020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262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número tem fonte, população e grau de confiança (A, B ou C). Os de grau C ficam marcados para a médica revisar.</a:t>
            </a:r>
            <a:endParaRPr lang="en-US" sz="1400" dirty="0"/>
          </a:p>
        </p:txBody>
      </p:sp>
      <p:sp>
        <p:nvSpPr>
          <p:cNvPr id="5" name="fluxo-1"/>
          <p:cNvSpPr/>
          <p:nvPr/>
        </p:nvSpPr>
        <p:spPr>
          <a:xfrm>
            <a:off x="7589520" y="1325880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fluxo-num-1"/>
          <p:cNvSpPr/>
          <p:nvPr/>
        </p:nvSpPr>
        <p:spPr>
          <a:xfrm>
            <a:off x="7726680" y="14813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2668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75320" y="13258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médica edita um valor</a:t>
            </a:r>
            <a:endParaRPr lang="en-US" sz="1500" dirty="0"/>
          </a:p>
        </p:txBody>
      </p:sp>
      <p:sp>
        <p:nvSpPr>
          <p:cNvPr id="9" name="fluxo-2"/>
          <p:cNvSpPr/>
          <p:nvPr/>
        </p:nvSpPr>
        <p:spPr>
          <a:xfrm>
            <a:off x="7589520" y="2221992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fluxo-num-2"/>
          <p:cNvSpPr/>
          <p:nvPr/>
        </p:nvSpPr>
        <p:spPr>
          <a:xfrm>
            <a:off x="7726680" y="23774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2199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resultado muda na hora</a:t>
            </a:r>
            <a:endParaRPr lang="en-US" sz="1500" dirty="0"/>
          </a:p>
        </p:txBody>
      </p:sp>
      <p:sp>
        <p:nvSpPr>
          <p:cNvPr id="13" name="fluxo-3"/>
          <p:cNvSpPr/>
          <p:nvPr/>
        </p:nvSpPr>
        <p:spPr>
          <a:xfrm>
            <a:off x="7589520" y="3118104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fluxo-num-3"/>
          <p:cNvSpPr/>
          <p:nvPr/>
        </p:nvSpPr>
        <p:spPr>
          <a:xfrm>
            <a:off x="7726680" y="32735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11810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Histórico: quem, quando, de → para</a:t>
            </a:r>
            <a:endParaRPr lang="en-US" sz="1500" dirty="0"/>
          </a:p>
        </p:txBody>
      </p:sp>
      <p:sp>
        <p:nvSpPr>
          <p:cNvPr id="17" name="fluxo-4"/>
          <p:cNvSpPr/>
          <p:nvPr/>
        </p:nvSpPr>
        <p:spPr>
          <a:xfrm>
            <a:off x="7589520" y="4014216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8" name="fluxo-num-4"/>
          <p:cNvSpPr/>
          <p:nvPr/>
        </p:nvSpPr>
        <p:spPr>
          <a:xfrm>
            <a:off x="7726680" y="41696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2668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401421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"Restaurar padrão" desfaz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Qualidade: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as 8 crônicas respondem igual à versão anterior (golden master); a soma das contribuições é testada em 400 perfis; os testes rodam em Windows, macOS e Linux a cada mudança.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ele não faz, e o que vem depois</a:t>
            </a:r>
            <a:endParaRPr lang="en-US" sz="3400" dirty="0"/>
          </a:p>
        </p:txBody>
      </p:sp>
      <p:sp>
        <p:nvSpPr>
          <p:cNvPr id="3" name="col-limites"/>
          <p:cNvSpPr txBox="1"/>
          <p:nvPr/>
        </p:nvSpPr>
        <p:spPr>
          <a:xfrm>
            <a:off x="45720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Limites e ética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Não é diagnóstico, e não foi calibrado com dados brasileiros.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Naive Bayes supõe pistas independentes: com pistas que andam juntas, a tela mostra "≥ 20%".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Boa parte das pistas vem de estudos de atenção primária (CAPER, Reino Unido) e de meta-análises.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LGPD: o teste público não grava nada. Dado de saúde é sensível.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Produto exigiria registro na ANVISA como software dispositivo médico (RDC 657/2022).</a:t>
            </a:r>
            <a:endParaRPr lang="en-US" sz="1500" dirty="0"/>
          </a:p>
        </p:txBody>
      </p:sp>
      <p:sp>
        <p:nvSpPr>
          <p:cNvPr id="5" name="col-proximos"/>
          <p:cNvSpPr txBox="1"/>
          <p:nvPr/>
        </p:nvSpPr>
        <p:spPr>
          <a:xfrm>
            <a:off x="493776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82880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Calibrar com prontuários anonimizados, com aprovação ética.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Modelar pistas correlacionadas.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Validação clínica prospectiva.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Revisão médica dos valores de confiança C.</a:t>
            </a:r>
            <a:endParaRPr lang="en-US" sz="1500" dirty="0"/>
          </a:p>
        </p:txBody>
      </p:sp>
      <p:sp>
        <p:nvSpPr>
          <p:cNvPr id="7" name="cartao-qr"/>
          <p:cNvSpPr/>
          <p:nvPr/>
        </p:nvSpPr>
        <p:spPr>
          <a:xfrm>
            <a:off x="8641080" y="1325880"/>
            <a:ext cx="3063240" cy="4709160"/>
          </a:xfrm>
          <a:prstGeom prst="roundRect">
            <a:avLst>
              <a:gd name="adj" fmla="val 4478"/>
            </a:avLst>
          </a:prstGeom>
          <a:solidFill>
            <a:schemeClr val="bg1"/>
          </a:solidFill>
          <a:ln/>
        </p:spPr>
      </p:sp>
      <p:pic>
        <p:nvPicPr>
          <p:cNvPr id="8" name="Image 0" descr="QR code para https://healthinpulse.onrender.com/te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508760"/>
            <a:ext cx="2606040" cy="2606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86968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o teste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4663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minutos · sem cadastro · nada é gravado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5257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healthinpulse.onrender.com/teste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4E3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InPulse">
  <a:themeElements>
    <a:clrScheme name="HealthInPulse">
      <a:dk1>
        <a:srgbClr val="0F172A"/>
      </a:dk1>
      <a:lt1>
        <a:srgbClr val="FFFFFF"/>
      </a:lt1>
      <a:dk2>
        <a:srgbClr val="003F7E"/>
      </a:dk2>
      <a:lt2>
        <a:srgbClr val="F7F9FC"/>
      </a:lt2>
      <a:accent1>
        <a:srgbClr val="00A0DC"/>
      </a:accent1>
      <a:accent2>
        <a:srgbClr val="16A34A"/>
      </a:accent2>
      <a:accent3>
        <a:srgbClr val="B45309"/>
      </a:accent3>
      <a:accent4>
        <a:srgbClr val="C2410C"/>
      </a:accent4>
      <a:accent5>
        <a:srgbClr val="475569"/>
      </a:accent5>
      <a:accent6>
        <a:srgbClr val="D4E3F1"/>
      </a:accent6>
      <a:hlink>
        <a:srgbClr val="0E5193"/>
      </a:hlink>
      <a:folHlink>
        <a:srgbClr val="5388BE"/>
      </a:folHlink>
    </a:clrScheme>
    <a:fontScheme name="HealthInPul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FIAP x Care 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HealthInPulse v8 · feira 24/10/2026</dc:title>
  <dc:subject>PptxGenJS Presentation</dc:subject>
  <dc:creator>Equipe HealthInPulse</dc:creator>
  <cp:lastModifiedBy>Equipe HealthInPulse</cp:lastModifiedBy>
  <cp:revision>1</cp:revision>
  <dcterms:created xsi:type="dcterms:W3CDTF">2026-10-19T23:01:12Z</dcterms:created>
  <dcterms:modified xsi:type="dcterms:W3CDTF">2026-10-19T23:01:12Z</dcterms:modified>
</cp:coreProperties>
</file>